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2438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51" y="0"/>
            <a:ext cx="24414104" cy="1625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2503" y="-14504"/>
            <a:ext cx="24415660" cy="16289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274800" y="8210819"/>
            <a:ext cx="101092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0" b="0" i="0">
                <a:solidFill>
                  <a:srgbClr val="000000"/>
                </a:solidFill>
                <a:latin typeface="Beliau"/>
              </a:rPr>
              <a:t>Sails In</a:t>
            </a:r>
            <a:r>
              <a:rPr sz="6500" b="0" i="0">
                <a:solidFill>
                  <a:srgbClr val="000000"/>
                </a:solidFill>
                <a:latin typeface="Beliau"/>
              </a:rPr>
              <a:t>t</a:t>
            </a:r>
            <a:r>
              <a:rPr sz="6500" b="0" i="0">
                <a:solidFill>
                  <a:srgbClr val="000000"/>
                </a:solidFill>
                <a:latin typeface="Beliau"/>
              </a:rPr>
              <a:t>o the Fu</a:t>
            </a:r>
            <a:r>
              <a:rPr sz="6500" b="0" i="0">
                <a:solidFill>
                  <a:srgbClr val="000000"/>
                </a:solidFill>
                <a:latin typeface="Beliau"/>
              </a:rPr>
              <a:t>t</a:t>
            </a:r>
            <a:r>
              <a:rPr sz="6500" b="0" i="0">
                <a:solidFill>
                  <a:srgbClr val="000000"/>
                </a:solidFill>
                <a:latin typeface="Beliau"/>
              </a:rPr>
              <a:t>ure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31482" y="7144273"/>
            <a:ext cx="11252517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0" b="0" i="0">
                <a:solidFill>
                  <a:srgbClr val="000000"/>
                </a:solidFill>
                <a:latin typeface="Beliau"/>
              </a:rPr>
              <a:t>A Unique Heritage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0273" y="1270000"/>
            <a:ext cx="5819802" cy="13715998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98" y="1270000"/>
            <a:ext cx="10974125" cy="137159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515315" y="11372541"/>
            <a:ext cx="118686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Chic Marina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15315" y="11677341"/>
            <a:ext cx="118686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Pr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omenade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36815" y="11362613"/>
            <a:ext cx="9047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orld Clas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36815" y="11667413"/>
            <a:ext cx="904718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acht 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56262" y="12366571"/>
            <a:ext cx="1182773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Signa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tur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56262" y="12671371"/>
            <a:ext cx="11827737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Hot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els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60029" y="12318692"/>
            <a:ext cx="912397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Unique 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etail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60029" y="12623492"/>
            <a:ext cx="912397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Experienc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98597" y="6851573"/>
            <a:ext cx="1268540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elebr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tion of lif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eedom,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98597" y="7181672"/>
            <a:ext cx="1268540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indulgenc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and beauty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Rashid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98597" y="7511770"/>
            <a:ext cx="1268540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achts &amp; Marina in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vit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 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ou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98597" y="7841868"/>
            <a:ext cx="1268540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embr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the 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senc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of lux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urious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98597" y="8171967"/>
            <a:ext cx="1268540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ont living and disc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 a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98597" y="8502065"/>
            <a:ext cx="1268540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orld wher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the marina bec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omes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98597" y="8832164"/>
            <a:ext cx="1268540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our pla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gr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ound.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98597" y="3267636"/>
            <a:ext cx="12685402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Rashid Y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achts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98597" y="4156890"/>
            <a:ext cx="12685402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&amp; Marina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61018" y="2547011"/>
            <a:ext cx="1312298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06316" y="2547011"/>
            <a:ext cx="13077683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8722" y="2547011"/>
            <a:ext cx="1302527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92903" y="2547011"/>
            <a:ext cx="12991096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81079" y="2547011"/>
            <a:ext cx="1290292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ISL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33684" y="2547011"/>
            <a:ext cx="1275031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8359" y="2547011"/>
            <a:ext cx="1269564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6111" y="3274924"/>
            <a:ext cx="9747888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THE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94312" y="3274924"/>
            <a:ext cx="958968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69632" y="3274924"/>
            <a:ext cx="951436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30508" y="3274924"/>
            <a:ext cx="945349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RLD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8785" y="3274924"/>
            <a:ext cx="9295214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ISLAN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6577" y="8877192"/>
            <a:ext cx="13697422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ARABI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86714" y="8877192"/>
            <a:ext cx="13097285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7984" y="9056936"/>
            <a:ext cx="13806015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82040" y="9056936"/>
            <a:ext cx="13701959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927" y="9056936"/>
            <a:ext cx="13588072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NCHES I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1846" y="9351734"/>
            <a:ext cx="21462153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EMAAR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1846" y="9536560"/>
            <a:ext cx="21462153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SOUTH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2744" y="6774179"/>
            <a:ext cx="12741255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DUBAI HILL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33463" y="6953922"/>
            <a:ext cx="12550536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EST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1840" y="6953922"/>
            <a:ext cx="12152159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25763" y="6953922"/>
            <a:ext cx="12058236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104" y="3773218"/>
            <a:ext cx="15395895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DUBA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1574" y="3952962"/>
            <a:ext cx="15472425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3744" y="3952962"/>
            <a:ext cx="15330255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ARIN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668" y="3966054"/>
            <a:ext cx="12039331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4356" y="3966054"/>
            <a:ext cx="11949643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76526" y="3966054"/>
            <a:ext cx="11807473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90564" y="3966054"/>
            <a:ext cx="11693435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4451" y="3966054"/>
            <a:ext cx="11579548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5756" y="4145797"/>
            <a:ext cx="12308243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BEACH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718090" y="4145797"/>
            <a:ext cx="11665909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RON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16770" y="6128058"/>
            <a:ext cx="9067229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DOWNTOW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75700" y="6307801"/>
            <a:ext cx="8808299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DUB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27618" y="6307801"/>
            <a:ext cx="8356381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1713" y="5625638"/>
            <a:ext cx="15042286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1401" y="5625638"/>
            <a:ext cx="14952598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73570" y="5625638"/>
            <a:ext cx="14810429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IRATE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8322" y="5805382"/>
            <a:ext cx="14925677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LIVIN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8702" y="9222971"/>
            <a:ext cx="16745297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GRAND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1904" y="9407798"/>
            <a:ext cx="16672095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POLO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419713" y="10524301"/>
            <a:ext cx="10964286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AR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51694" y="10524301"/>
            <a:ext cx="10632305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BIA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86467" y="10704045"/>
            <a:ext cx="11097532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RANCHES II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70146" y="11720743"/>
            <a:ext cx="9513853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TH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727522" y="11900486"/>
            <a:ext cx="9656477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841712" y="11900486"/>
            <a:ext cx="9542287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ALLE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69" y="7058041"/>
            <a:ext cx="14919930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TH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0165" y="7237785"/>
            <a:ext cx="15023834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90991" y="7237785"/>
            <a:ext cx="14893008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ASI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97560" y="4655109"/>
            <a:ext cx="1958643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JEBEL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3519" y="4655109"/>
            <a:ext cx="1936048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5926" y="4655109"/>
            <a:ext cx="19308073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10107" y="4655109"/>
            <a:ext cx="19273892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70034" y="4757766"/>
            <a:ext cx="1961396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FREE ZON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0462" y="7304152"/>
            <a:ext cx="1600353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DUB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88272" y="7304152"/>
            <a:ext cx="1579572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3702" y="7406808"/>
            <a:ext cx="1612029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INVEST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86306" y="7406808"/>
            <a:ext cx="15797693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EN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97704" y="7509465"/>
            <a:ext cx="1598629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43002" y="7509465"/>
            <a:ext cx="1594099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95408" y="7509465"/>
            <a:ext cx="1588859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2899" y="7509465"/>
            <a:ext cx="1584110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45084" y="8173920"/>
            <a:ext cx="1333891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DUB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52894" y="8173920"/>
            <a:ext cx="1313110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 P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00887" y="8173920"/>
            <a:ext cx="12983112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5068" y="8173920"/>
            <a:ext cx="1294893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95944" y="8173920"/>
            <a:ext cx="1288805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517647" y="8173920"/>
            <a:ext cx="12866352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&amp;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92348" y="8276577"/>
            <a:ext cx="1329165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EQUISTRI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74769" y="8276577"/>
            <a:ext cx="1290923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13646" y="8379233"/>
            <a:ext cx="13170353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CLU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04516" y="6340815"/>
            <a:ext cx="12979483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56923" y="6340815"/>
            <a:ext cx="12927076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91104" y="6340815"/>
            <a:ext cx="1289289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512732" y="6340815"/>
            <a:ext cx="1287126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KH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65791" y="6340815"/>
            <a:ext cx="12718208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IL 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OA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33973" y="9822751"/>
            <a:ext cx="22450026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78807" y="9911375"/>
            <a:ext cx="22105192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99778" y="9916765"/>
            <a:ext cx="22084221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45824" y="9928599"/>
            <a:ext cx="22038175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404848" y="9943769"/>
            <a:ext cx="21979151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55734" y="9956847"/>
            <a:ext cx="21928265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15086" y="10627814"/>
            <a:ext cx="17368913" cy="92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87737" y="10601759"/>
            <a:ext cx="17196262" cy="92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39577" y="10593935"/>
            <a:ext cx="17144422" cy="92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66821" y="10574733"/>
            <a:ext cx="17017178" cy="92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88216" y="10571504"/>
            <a:ext cx="16995783" cy="92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35194" y="10564415"/>
            <a:ext cx="16948805" cy="92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5412" y="10555327"/>
            <a:ext cx="16888587" cy="92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47327" y="10547492"/>
            <a:ext cx="16836672" cy="92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648657" y="11602520"/>
            <a:ext cx="6735342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956970" y="11632862"/>
            <a:ext cx="6427029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002585" y="11637352"/>
            <a:ext cx="6381414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8184366" y="11655242"/>
            <a:ext cx="6199633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938394" y="9675158"/>
            <a:ext cx="12445605" cy="92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362205" y="9705403"/>
            <a:ext cx="12021794" cy="92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422933" y="9709737"/>
            <a:ext cx="11961066" cy="92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475287" y="9713473"/>
            <a:ext cx="11908712" cy="924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647969" y="6340934"/>
            <a:ext cx="1073603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AL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802995" y="6340934"/>
            <a:ext cx="10581004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856838" y="6340934"/>
            <a:ext cx="1052716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909244" y="6340934"/>
            <a:ext cx="1047475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IL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985169" y="6340934"/>
            <a:ext cx="1039883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032659" y="6340934"/>
            <a:ext cx="1035134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093535" y="6340934"/>
            <a:ext cx="10290464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146017" y="6340934"/>
            <a:ext cx="10237982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5789437" y="11621511"/>
            <a:ext cx="8594562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776579" y="11673328"/>
            <a:ext cx="8607420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761647" y="11733508"/>
            <a:ext cx="8622352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750012" y="11780397"/>
            <a:ext cx="8633987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744695" y="11801826"/>
            <a:ext cx="8639304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731300" y="11855808"/>
            <a:ext cx="8652699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726372" y="11875669"/>
            <a:ext cx="8657627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713514" y="11927486"/>
            <a:ext cx="8670485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708197" y="11948915"/>
            <a:ext cx="8675802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699823" y="11982663"/>
            <a:ext cx="8684176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686966" y="12034480"/>
            <a:ext cx="8697033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5681648" y="12055909"/>
            <a:ext cx="8702351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5671070" y="12098543"/>
            <a:ext cx="8712929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-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665752" y="12119971"/>
            <a:ext cx="8718247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5660824" y="12139832"/>
            <a:ext cx="8723175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5647967" y="12191649"/>
            <a:ext cx="8736032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5636239" y="12238912"/>
            <a:ext cx="8747760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B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623363" y="12290804"/>
            <a:ext cx="8760636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U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5609894" y="12345085"/>
            <a:ext cx="8774105" cy="908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27833" y="7749852"/>
            <a:ext cx="17056166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EXP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522787" y="7749852"/>
            <a:ext cx="16861212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CIT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4000581" y="5603386"/>
            <a:ext cx="10383418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AL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108872" y="5603386"/>
            <a:ext cx="1027512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QU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283408" y="5603386"/>
            <a:ext cx="1010059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Z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325832" y="5603386"/>
            <a:ext cx="1005816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4347460" y="5603386"/>
            <a:ext cx="1003653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INDUSTRI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738124" y="5603386"/>
            <a:ext cx="964587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4772305" y="5603386"/>
            <a:ext cx="9611694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4793933" y="5603386"/>
            <a:ext cx="9590066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ARE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711809" y="4806150"/>
            <a:ext cx="12672190" cy="92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869356" y="4835532"/>
            <a:ext cx="12514643" cy="92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915327" y="4844105"/>
            <a:ext cx="12468672" cy="92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Z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082991" y="4875373"/>
            <a:ext cx="12301008" cy="92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127845" y="4883737"/>
            <a:ext cx="12256154" cy="92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401210" y="4934718"/>
            <a:ext cx="11982789" cy="92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855794" y="5558270"/>
            <a:ext cx="18528205" cy="92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06757" y="5503766"/>
            <a:ext cx="18377242" cy="92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K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050806" y="5487862"/>
            <a:ext cx="18333193" cy="92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01555" y="5469539"/>
            <a:ext cx="18282444" cy="92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21940" y="5462180"/>
            <a:ext cx="18262059" cy="92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Z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161926" y="5447743"/>
            <a:ext cx="18222073" cy="92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11320" y="5429909"/>
            <a:ext cx="18172679" cy="92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Y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466845" y="5337653"/>
            <a:ext cx="17917154" cy="92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16240" y="5319819"/>
            <a:ext cx="17867759" cy="922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5003137" y="5008133"/>
            <a:ext cx="9380862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SH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5143113" y="5008133"/>
            <a:ext cx="9240886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5163229" y="5008133"/>
            <a:ext cx="922077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5209963" y="5008133"/>
            <a:ext cx="9174036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5263806" y="5008133"/>
            <a:ext cx="9120193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5285434" y="5008133"/>
            <a:ext cx="909856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Z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5327858" y="5008133"/>
            <a:ext cx="905614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380265" y="5008133"/>
            <a:ext cx="9003734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YED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542852" y="5008133"/>
            <a:ext cx="884114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RO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5703700" y="5008133"/>
            <a:ext cx="868029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3838896" y="9038713"/>
            <a:ext cx="10545103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998321" y="9054403"/>
            <a:ext cx="10385678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4044839" y="9058982"/>
            <a:ext cx="10339160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4098433" y="9064256"/>
            <a:ext cx="10285566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4119960" y="9066375"/>
            <a:ext cx="10264039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4352776" y="9089287"/>
            <a:ext cx="10031223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4419015" y="9095806"/>
            <a:ext cx="9964984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4580171" y="9111667"/>
            <a:ext cx="9803828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601699" y="9113785"/>
            <a:ext cx="9782300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B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723789" y="9125801"/>
            <a:ext cx="9660210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45317" y="9127920"/>
            <a:ext cx="9638682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Z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87544" y="9132075"/>
            <a:ext cx="9596455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885097" y="9141676"/>
            <a:ext cx="9498902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4979939" y="9151010"/>
            <a:ext cx="9404060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5001466" y="9153129"/>
            <a:ext cx="9382533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5048737" y="9157781"/>
            <a:ext cx="9335262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5109331" y="9163744"/>
            <a:ext cx="9274668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5161569" y="9168885"/>
            <a:ext cx="9222430" cy="923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4197126" y="9421204"/>
            <a:ext cx="10186873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4329504" y="9467765"/>
            <a:ext cx="10054495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K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4392619" y="9489965"/>
            <a:ext cx="9991380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4443511" y="9507865"/>
            <a:ext cx="9940488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463954" y="9515055"/>
            <a:ext cx="9920045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Z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504053" y="9529159"/>
            <a:ext cx="9879946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4553588" y="9546582"/>
            <a:ext cx="9830411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Y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4686823" y="9593445"/>
            <a:ext cx="9697176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4707266" y="9600635"/>
            <a:ext cx="9676733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B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4894610" y="9666529"/>
            <a:ext cx="9489389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4944144" y="9683952"/>
            <a:ext cx="9439855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5180880" y="9767219"/>
            <a:ext cx="9203119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5230414" y="9784642"/>
            <a:ext cx="9153585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5262722" y="9796005"/>
            <a:ext cx="9121277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5283165" y="9803196"/>
            <a:ext cx="9100834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5334844" y="9821372"/>
            <a:ext cx="9049155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5384378" y="9838795"/>
            <a:ext cx="8999621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Y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5478443" y="9871881"/>
            <a:ext cx="8905556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5527978" y="9889303"/>
            <a:ext cx="8856021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5579656" y="9907480"/>
            <a:ext cx="8804343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5600099" y="9914670"/>
            <a:ext cx="8783900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5804670" y="9986624"/>
            <a:ext cx="8579329" cy="92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174592" y="6864699"/>
            <a:ext cx="20209407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S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K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H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675310" y="6993386"/>
            <a:ext cx="19708689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739833" y="7009969"/>
            <a:ext cx="19644166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B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036788" y="7086288"/>
            <a:ext cx="19347211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057758" y="7091678"/>
            <a:ext cx="19326241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Z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149777" y="7115327"/>
            <a:ext cx="19234222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Y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193991" y="7126690"/>
            <a:ext cx="19190008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412564" y="7182865"/>
            <a:ext cx="18971435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463376" y="7195924"/>
            <a:ext cx="18920623" cy="92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9971658" y="6623606"/>
            <a:ext cx="441234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DUBA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9796365" y="6726262"/>
            <a:ext cx="4587634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INTERNATI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0231949" y="6726262"/>
            <a:ext cx="415205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0286624" y="6726262"/>
            <a:ext cx="409737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0339030" y="6726262"/>
            <a:ext cx="404496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9926738" y="6828918"/>
            <a:ext cx="445726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AIRP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0152999" y="6828918"/>
            <a:ext cx="423100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0200490" y="6828918"/>
            <a:ext cx="418350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245027" y="9319394"/>
            <a:ext cx="18138972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297434" y="9319394"/>
            <a:ext cx="1808656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 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353318" y="9319394"/>
            <a:ext cx="1803068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419866" y="9319394"/>
            <a:ext cx="17964133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472348" y="9319394"/>
            <a:ext cx="1791165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K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519082" y="9319394"/>
            <a:ext cx="1786491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561506" y="9319394"/>
            <a:ext cx="17822493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622382" y="9319394"/>
            <a:ext cx="1776161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U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674939" y="9319394"/>
            <a:ext cx="1770906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204191" y="9422051"/>
            <a:ext cx="18179808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INTERN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516284" y="9422051"/>
            <a:ext cx="1786771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TI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639699" y="9422051"/>
            <a:ext cx="17744300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694374" y="9422051"/>
            <a:ext cx="1768962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746780" y="9422051"/>
            <a:ext cx="1763721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334564" y="9524707"/>
            <a:ext cx="1804943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6386970" y="9524707"/>
            <a:ext cx="1799702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IR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P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499798" y="9524707"/>
            <a:ext cx="1788420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OR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T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9657448" y="5737665"/>
            <a:ext cx="472655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DEIR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7770297" y="4874751"/>
            <a:ext cx="6613702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DUBA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7761071" y="4977407"/>
            <a:ext cx="6622928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F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7800621" y="4977407"/>
            <a:ext cx="6583378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RA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M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7967141" y="4977407"/>
            <a:ext cx="6416858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6734878" y="5380640"/>
            <a:ext cx="7649121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BUR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J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6924312" y="5380640"/>
            <a:ext cx="745968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6946015" y="5380640"/>
            <a:ext cx="7437984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K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6992750" y="5380640"/>
            <a:ext cx="739124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HALI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F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7192922" y="5380640"/>
            <a:ext cx="7191077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300133" y="12757882"/>
            <a:ext cx="5083866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9347624" y="12757882"/>
            <a:ext cx="5036375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9387855" y="12757882"/>
            <a:ext cx="4996144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D LIN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9298620" y="12886260"/>
            <a:ext cx="508537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GREEN LIN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9298620" y="13014638"/>
            <a:ext cx="5085379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F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9338171" y="13014638"/>
            <a:ext cx="5045828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UTURE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9595135" y="13014638"/>
            <a:ext cx="4788864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BLUE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9791677" y="13014638"/>
            <a:ext cx="4592322" cy="924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10" b="0" i="0">
                <a:solidFill>
                  <a:srgbClr val="000000"/>
                </a:solidFill>
                <a:latin typeface="Poppins"/>
              </a:rPr>
              <a:t>LIN</a:t>
            </a:r>
            <a:r>
              <a:rPr sz="610" b="0" i="0">
                <a:solidFill>
                  <a:srgbClr val="000000"/>
                </a:solidFill>
                <a:latin typeface="Poppins"/>
              </a:rPr>
              <a:t>E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8373747" y="12416647"/>
            <a:ext cx="6010252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DUB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8825665" y="12416647"/>
            <a:ext cx="5558334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8874971" y="12416647"/>
            <a:ext cx="5509028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8927301" y="12416647"/>
            <a:ext cx="5456698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METR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O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9488115" y="12416647"/>
            <a:ext cx="4895884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 LINE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2483795" y="7692497"/>
            <a:ext cx="11900204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ARABI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3083932" y="7692497"/>
            <a:ext cx="11300067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N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2456873" y="7872240"/>
            <a:ext cx="11927126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2560929" y="7872240"/>
            <a:ext cx="11823070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2674816" y="7872240"/>
            <a:ext cx="11709183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NCHES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6212329" y="7536379"/>
            <a:ext cx="8171670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DUB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6664247" y="7536379"/>
            <a:ext cx="7719752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I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6713553" y="7536379"/>
            <a:ext cx="7670446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 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6765883" y="7536379"/>
            <a:ext cx="7618116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CREE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K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6346180" y="7716122"/>
            <a:ext cx="8037819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H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6462941" y="7716122"/>
            <a:ext cx="7921058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A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6576828" y="7716122"/>
            <a:ext cx="7807171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RBOU</a:t>
            </a:r>
            <a:r>
              <a:rPr sz="1210" b="0" i="0">
                <a:solidFill>
                  <a:srgbClr val="000000"/>
                </a:solidFill>
                <a:latin typeface="Poppins"/>
              </a:rPr>
              <a:t>R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215779" y="6092754"/>
            <a:ext cx="17168220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EXPO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7160121" y="6272498"/>
            <a:ext cx="17223878" cy="1848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10" b="0" i="0">
                <a:solidFill>
                  <a:srgbClr val="000000"/>
                </a:solidFill>
                <a:latin typeface="Poppins"/>
              </a:rPr>
              <a:t>LIVING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22165729" y="8729182"/>
            <a:ext cx="2218270" cy="1269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0" b="0" i="0">
                <a:solidFill>
                  <a:srgbClr val="000000"/>
                </a:solidFill>
                <a:latin typeface="Poppins"/>
              </a:rPr>
              <a:t>SHARJAH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641765" y="8729182"/>
            <a:ext cx="22742234" cy="1269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30" b="0" i="0">
                <a:solidFill>
                  <a:srgbClr val="000000"/>
                </a:solidFill>
                <a:latin typeface="Poppins"/>
              </a:rPr>
              <a:t>ABU DHABI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268391" y="14338547"/>
            <a:ext cx="22115608" cy="412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Gotham"/>
              </a:rPr>
              <a:t>15</a:t>
            </a:r>
            <a:r>
              <a:rPr sz="2700" b="0" i="0">
                <a:solidFill>
                  <a:srgbClr val="000000"/>
                </a:solidFill>
                <a:latin typeface="Gotham"/>
              </a:rPr>
              <a:t> mins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2268391" y="14793533"/>
            <a:ext cx="22115608" cy="309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30" b="0" i="0">
                <a:solidFill>
                  <a:srgbClr val="000000"/>
                </a:solidFill>
                <a:latin typeface="Gotham"/>
              </a:rPr>
              <a:t>driv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e t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o Al Shindagha Heritage Dis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trict 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047441" y="14338547"/>
            <a:ext cx="15336558" cy="412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Gotham"/>
              </a:rPr>
              <a:t>20</a:t>
            </a:r>
            <a:r>
              <a:rPr sz="2700" b="0" i="0">
                <a:solidFill>
                  <a:srgbClr val="000000"/>
                </a:solidFill>
                <a:latin typeface="Gotham"/>
              </a:rPr>
              <a:t> mins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047441" y="14793533"/>
            <a:ext cx="15336558" cy="309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30" b="0" i="0">
                <a:solidFill>
                  <a:srgbClr val="000000"/>
                </a:solidFill>
                <a:latin typeface="Gotham"/>
              </a:rPr>
              <a:t>driv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e t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o Dubai Int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erna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tional Airport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5042339" y="14334885"/>
            <a:ext cx="9341660" cy="412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Gotham"/>
              </a:rPr>
              <a:t>25</a:t>
            </a:r>
            <a:r>
              <a:rPr sz="2700" b="0" i="0">
                <a:solidFill>
                  <a:srgbClr val="000000"/>
                </a:solidFill>
                <a:latin typeface="Gotham"/>
              </a:rPr>
              <a:t> mins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5042339" y="14789870"/>
            <a:ext cx="9341660" cy="309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30" b="0" i="0">
                <a:solidFill>
                  <a:srgbClr val="000000"/>
                </a:solidFill>
                <a:latin typeface="Gotham"/>
              </a:rPr>
              <a:t>driv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e t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o Do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wnt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o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wn Dubai 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20274005" y="14338549"/>
            <a:ext cx="4109994" cy="4120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 i="0">
                <a:solidFill>
                  <a:srgbClr val="000000"/>
                </a:solidFill>
                <a:latin typeface="Gotham"/>
              </a:rPr>
              <a:t>30</a:t>
            </a:r>
            <a:r>
              <a:rPr sz="2700" b="0" i="0">
                <a:solidFill>
                  <a:srgbClr val="000000"/>
                </a:solidFill>
                <a:latin typeface="Gotham"/>
              </a:rPr>
              <a:t> mins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20274005" y="14793534"/>
            <a:ext cx="4109994" cy="309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30" b="0" i="0">
                <a:solidFill>
                  <a:srgbClr val="000000"/>
                </a:solidFill>
                <a:latin typeface="Gotham"/>
              </a:rPr>
              <a:t>driv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e t</a:t>
            </a:r>
            <a:r>
              <a:rPr sz="2030" b="0" i="0">
                <a:solidFill>
                  <a:srgbClr val="000000"/>
                </a:solidFill>
                <a:latin typeface="Gotham"/>
              </a:rPr>
              <a:t>o Dubai Marina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2413000" y="12639563"/>
            <a:ext cx="21971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Connected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270000" y="11877563"/>
            <a:ext cx="23114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Perfectly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33" y="0"/>
            <a:ext cx="24412507" cy="16255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54062" y="1990566"/>
            <a:ext cx="6429937" cy="5753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79" b="0" i="0">
                <a:solidFill>
                  <a:srgbClr val="000000"/>
                </a:solidFill>
                <a:latin typeface="Gotham"/>
              </a:rPr>
              <a:t>W</a:t>
            </a:r>
            <a:r>
              <a:rPr sz="3779" b="0" i="0">
                <a:solidFill>
                  <a:srgbClr val="000000"/>
                </a:solidFill>
                <a:latin typeface="Gotham"/>
              </a:rPr>
              <a:t>elc</a:t>
            </a:r>
            <a:r>
              <a:rPr sz="3779" b="0" i="0">
                <a:solidFill>
                  <a:srgbClr val="000000"/>
                </a:solidFill>
                <a:latin typeface="Gotham"/>
              </a:rPr>
              <a:t>ome t</a:t>
            </a:r>
            <a:r>
              <a:rPr sz="3779" b="0" i="0">
                <a:solidFill>
                  <a:srgbClr val="000000"/>
                </a:solidFill>
                <a:latin typeface="Gotham"/>
              </a:rPr>
              <a:t>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189" y="1270000"/>
            <a:ext cx="16329775" cy="137160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0000" y="8868027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uck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ed along the pris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tine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ers of Rashid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0" y="9198126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achts &amp; Marina, Fior 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1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 un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eils a ne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w er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9528224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of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ont opulenc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and 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x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clusivity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9858322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Embark on a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onnois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seur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’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journe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10188421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br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thtaking marina vis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tas and the allur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10518519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of Do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wnt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wn Dubai sk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yline panor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amas,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10848618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omplement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ed b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rich gr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een spac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 and a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11178716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liv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ely pr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omenade filled with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etail, dining,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11508814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and leisur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xperienc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4395090"/>
            <a:ext cx="23114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Wa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terfron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5284344"/>
            <a:ext cx="23114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Aspira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tions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0000" y="6173598"/>
            <a:ext cx="23114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Become 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0000" y="1247137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THE PROPER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625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613" y="0"/>
            <a:ext cx="24411218" cy="162544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69400" y="1707766"/>
            <a:ext cx="152146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Leisure,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69400" y="2597020"/>
            <a:ext cx="152146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for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38500" y="1628137"/>
            <a:ext cx="84455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 Fior 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1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ery 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xperienc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uplifts the spirit. Set agains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 the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38500" y="1958235"/>
            <a:ext cx="84455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soothing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ers of the marina, lif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unf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olds eff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ortles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sly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8500" y="2288334"/>
            <a:ext cx="84455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moments of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elax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tion and mindful rituals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liv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ely social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38500" y="2618432"/>
            <a:ext cx="84455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int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actions. Balanc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and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ell-being ar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 the heart of daily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38500" y="2948531"/>
            <a:ext cx="84455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lif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wher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onnections ar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nurtur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ed, memories ar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made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38500" y="3278629"/>
            <a:ext cx="84455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and each da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ells a 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ory of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efined, timeles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eleganc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37" y="1270000"/>
            <a:ext cx="16996854" cy="137221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31801" y="7344072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ithin this azur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sanctuary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a dynamic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31801" y="7674170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lif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tyle 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aits, off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ering spac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mo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31801" y="8004268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ga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ther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pla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and gr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.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esidents can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31801" y="8334367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embr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a mosaic of 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xperienc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es, 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31801" y="8664465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vibr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ant social spac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 and peac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eful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etr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ts.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31801" y="8994564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oot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ed in the 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senc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of holis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tic living,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31801" y="9324662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Fior 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1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 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tands as a ga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a true sense of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31801" y="9654760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ommunity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25926" y="4649134"/>
            <a:ext cx="7958073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Well-Being Thrives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44548" y="3759880"/>
            <a:ext cx="9839451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Abundan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t Living 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47758" y="1247137"/>
            <a:ext cx="273624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AMENITIES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50059" y="11863003"/>
            <a:ext cx="54339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dult &amp; Kids</a:t>
            </a:r>
            <a:r>
              <a:rPr sz="1500" b="0" i="0">
                <a:solidFill>
                  <a:srgbClr val="000000"/>
                </a:solidFill>
                <a:latin typeface="Proxima Nova A"/>
              </a:rPr>
              <a:t>'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50059" y="12167803"/>
            <a:ext cx="54339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P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50059" y="14506953"/>
            <a:ext cx="54339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Out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door Kids’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50059" y="14811753"/>
            <a:ext cx="54339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Pla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y Ar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50059" y="12740256"/>
            <a:ext cx="54339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Out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50059" y="13045056"/>
            <a:ext cx="54339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Gy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50059" y="13654465"/>
            <a:ext cx="54339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Out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door Y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oga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50059" y="13959265"/>
            <a:ext cx="54339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Ar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41303" y="12740256"/>
            <a:ext cx="234269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P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adel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041303" y="13045056"/>
            <a:ext cx="234269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C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ourt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05870" y="14506953"/>
            <a:ext cx="237812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ent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05870" y="14811753"/>
            <a:ext cx="237812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La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41303" y="11863003"/>
            <a:ext cx="234269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Splash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41303" y="12167803"/>
            <a:ext cx="234269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Pa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041303" y="13620937"/>
            <a:ext cx="234269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B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B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Q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41303" y="13925737"/>
            <a:ext cx="234269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Ar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30" y="0"/>
            <a:ext cx="24416511" cy="16255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512" y="5384804"/>
            <a:ext cx="5484862" cy="5484862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9060" y="0"/>
            <a:ext cx="8617100" cy="162734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94866" y="8669972"/>
            <a:ext cx="166891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Ex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quisit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ely en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visioned and designed, Fior 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1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 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tands as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94866" y="9000070"/>
            <a:ext cx="166891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 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triking ar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chit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ectur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al 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ement 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 Rashid 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achts &amp;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4866" y="9330169"/>
            <a:ext cx="166891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Marina.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his landmark fuses Dubai’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maritime heritage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4866" y="9660267"/>
            <a:ext cx="166891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with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empor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ary lux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ury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balancing sophis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tica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866" y="9990366"/>
            <a:ext cx="166891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and ser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enity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.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he 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acade opens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the marina and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866" y="10320464"/>
            <a:ext cx="166891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sk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yline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amplifying vie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s, light, and priv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while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866" y="10650562"/>
            <a:ext cx="166891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ery detail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e_x001D_ects ele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ed design.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0866" y="5989355"/>
            <a:ext cx="15673133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Refined by Detail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5120" y="5100101"/>
            <a:ext cx="16688879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Bold by Design,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59" y="0"/>
            <a:ext cx="24413120" cy="16260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2482" y="5375671"/>
            <a:ext cx="5490170" cy="5504656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74" y="0"/>
            <a:ext cx="9377166" cy="1625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63959" y="7023098"/>
            <a:ext cx="135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Indulge in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and nurturing plac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3959" y="7353197"/>
            <a:ext cx="135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all 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amed b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the calming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63959" y="7683295"/>
            <a:ext cx="135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opulenc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. Off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ering 1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3-bedr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oom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3959" y="8013393"/>
            <a:ext cx="135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apartments, each home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ombines unriv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959" y="8343492"/>
            <a:ext cx="135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tyle with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efined ar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chit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ectur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al pr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ecision,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3959" y="8673590"/>
            <a:ext cx="135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omplement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ed b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empor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ary elements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3959" y="9003689"/>
            <a:ext cx="135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and la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outs tha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 maximiz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ont vie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0" y="4328159"/>
            <a:ext cx="15621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Curiosity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0" y="3438905"/>
            <a:ext cx="16764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Cultiv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a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ting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1247137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RESIDENTIAL UNIT TYPES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12" y="0"/>
            <a:ext cx="24410821" cy="162559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168" y="11560481"/>
            <a:ext cx="3438398" cy="3438398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817" y="-16143"/>
            <a:ext cx="15517102" cy="162878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0000" y="7418753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Each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oom 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ok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 a sense of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efined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7748851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calm, with neutr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al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olor palett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 and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8078950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ed furnishings cr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ting an intima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8409048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ambianc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of eleganc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and calm.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he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8739146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ery 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senc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of sophis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tica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ed lif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tyle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9069245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and 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xpert cr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aftsmanship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arms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9399343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these dis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tinctiv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homes, giving them 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9729442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signa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design identity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2945814"/>
            <a:ext cx="23114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In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tima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te L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uxury,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3835068"/>
            <a:ext cx="23114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Harmonious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0000" y="4724322"/>
            <a:ext cx="231140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0000" y="1247137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INTERIORS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3" cy="162536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75" y="-16164"/>
            <a:ext cx="24415348" cy="162851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735" y="1253555"/>
            <a:ext cx="17003561" cy="137458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31801" y="7725027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 the 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ery heart of Rashid 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achts &amp;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31801" y="8055126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Marina lies a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orld-clas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des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tina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tion 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31801" y="8385224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supery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achts, 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turing 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430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et berths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31801" y="8715322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ommoda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ting 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sels up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100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 metr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131801" y="9045421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ith fle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xible options 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or short-t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erm visits,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31801" y="9375519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seasonal docking, or 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ear-r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ound mooring,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31801" y="9705618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acht o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wners enjo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seamles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the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31801" y="10035716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marina while 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xperiencing the vibr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anc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of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31801" y="10365814"/>
            <a:ext cx="62521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Dubai’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ic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onic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oas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tline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41548" y="3252090"/>
            <a:ext cx="8442452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Premier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41548" y="4141344"/>
            <a:ext cx="8442452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Superyacht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41548" y="5030598"/>
            <a:ext cx="8442452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66178" y="1247137"/>
            <a:ext cx="441782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NEARB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TTRA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725" y="-15758"/>
            <a:ext cx="14042391" cy="162717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0001" y="7832595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Jus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 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eps 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 Fior 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1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the Marina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0001" y="8162693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Pr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omenade is a vibr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ant w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ont hub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1" y="8492792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om tr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endy boutiques and gourmet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1" y="8822890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taur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ants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ed leisur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spac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es, the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1" y="9152989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boule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d pulses with ener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gy while being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1" y="9483087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fr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amed b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lush park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and open gr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een ar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eas.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1" y="9813185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It’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wher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the rh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ythm of city lif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 blends with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1" y="10143284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the calm of the marina, o_x001E_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ering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esidents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1" y="10473382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endles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s opportunities t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 dine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shop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, r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elax,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1" y="10803481"/>
            <a:ext cx="2311399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and c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onnect.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1553" y="3439159"/>
            <a:ext cx="19332446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Vibran</a:t>
            </a:r>
            <a:r>
              <a:rPr sz="6000" b="0" i="0">
                <a:solidFill>
                  <a:srgbClr val="000000"/>
                </a:solidFill>
                <a:latin typeface="Beliau"/>
              </a:rPr>
              <a:t>t Marina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0000" y="1247137"/>
            <a:ext cx="2311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Gotham"/>
              </a:rPr>
              <a:t>NEARB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Y 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TTRA</a:t>
            </a:r>
            <a:r>
              <a:rPr sz="1800" b="0" i="0">
                <a:solidFill>
                  <a:srgbClr val="000000"/>
                </a:solidFill>
                <a:latin typeface="Gotham"/>
              </a:rPr>
              <a:t>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8009" y="4248658"/>
            <a:ext cx="1744599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000" b="0" i="0">
                <a:solidFill>
                  <a:srgbClr val="000000"/>
                </a:solidFill>
                <a:latin typeface="Beliau"/>
              </a:rPr>
              <a:t>Promenade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899" y="1256360"/>
            <a:ext cx="12102119" cy="137501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2600" y="3186903"/>
            <a:ext cx="86614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0" b="0" i="0">
                <a:solidFill>
                  <a:srgbClr val="000000"/>
                </a:solidFill>
                <a:latin typeface="Beliau"/>
              </a:rPr>
              <a:t>Global Lifestyle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2600" y="4177503"/>
            <a:ext cx="86614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6500" b="0" i="0">
                <a:solidFill>
                  <a:srgbClr val="000000"/>
                </a:solidFill>
                <a:latin typeface="Beliau"/>
              </a:rPr>
              <a:t>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2600" y="8014221"/>
            <a:ext cx="8661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0" i="0">
                <a:solidFill>
                  <a:srgbClr val="000000"/>
                </a:solidFill>
                <a:latin typeface="Beliau"/>
              </a:rPr>
              <a:t>A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ED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 7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1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.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7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 Bn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2600" y="8508282"/>
            <a:ext cx="8661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M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k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 C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p - F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Y 2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0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2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2600" y="9259840"/>
            <a:ext cx="8661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0" i="0">
                <a:solidFill>
                  <a:srgbClr val="000000"/>
                </a:solidFill>
                <a:latin typeface="Beliau"/>
              </a:rPr>
              <a:t>A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ED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 1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4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.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4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 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2600" y="9738107"/>
            <a:ext cx="8661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u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 – 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s o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 3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0 J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u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 2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0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2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2600" y="10505459"/>
            <a:ext cx="8661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0" i="0">
                <a:solidFill>
                  <a:srgbClr val="000000"/>
                </a:solidFill>
                <a:latin typeface="Beliau"/>
              </a:rPr>
              <a:t>A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ED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 5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.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3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 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2600" y="11065051"/>
            <a:ext cx="8661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 P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fi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 - H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1 2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0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2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34350" y="8014221"/>
            <a:ext cx="524964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0" i="0">
                <a:solidFill>
                  <a:srgbClr val="000000"/>
                </a:solidFill>
                <a:latin typeface="Beliau"/>
              </a:rPr>
              <a:t>1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1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5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,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000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34350" y="8508282"/>
            <a:ext cx="524964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i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i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l U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i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s D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l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i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34350" y="9259840"/>
            <a:ext cx="524964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0" i="0">
                <a:solidFill>
                  <a:srgbClr val="000000"/>
                </a:solidFill>
                <a:latin typeface="Beliau"/>
              </a:rPr>
              <a:t>1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2+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34350" y="9738107"/>
            <a:ext cx="524964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G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l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oba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l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M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k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P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c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34350" y="10505459"/>
            <a:ext cx="524964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000" b="0" i="0">
                <a:solidFill>
                  <a:srgbClr val="000000"/>
                </a:solidFill>
                <a:latin typeface="Beliau"/>
              </a:rPr>
              <a:t>4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2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,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20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0</a:t>
            </a:r>
            <a:r>
              <a:rPr sz="3000" b="0" i="0">
                <a:solidFill>
                  <a:srgbClr val="000000"/>
                </a:solidFill>
                <a:latin typeface="Beliau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34350" y="11065051"/>
            <a:ext cx="524964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i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i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l U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i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34350" y="11382615"/>
            <a:ext cx="524964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C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u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l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y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U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De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l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p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men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2686" y="12709638"/>
            <a:ext cx="866131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*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s o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 3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0 J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u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 2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0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2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2686" y="5891071"/>
            <a:ext cx="866131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A leader in the global 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eal es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 mark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et, EMA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AR has gr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wn o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er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2686" y="6221208"/>
            <a:ext cx="866131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the y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ears 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 bec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ome the lar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ges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 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eal es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ta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 de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eloper outside of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2686" y="6551344"/>
            <a:ext cx="866131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China. Y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ou will be in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v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ting with one of the bes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t-r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egar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ded br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ands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2686" y="6881481"/>
            <a:ext cx="866131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 i="0">
                <a:solidFill>
                  <a:srgbClr val="000000"/>
                </a:solidFill>
                <a:latin typeface="Gotham"/>
              </a:rPr>
              <a:t>in the w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orld*.</a:t>
            </a:r>
            <a:r>
              <a:rPr sz="1500" b="0" i="0">
                <a:solidFill>
                  <a:srgbClr val="000000"/>
                </a:solidFill>
                <a:latin typeface="Gotham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51" y="0"/>
            <a:ext cx="24414104" cy="1625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0325" y="5372088"/>
            <a:ext cx="1827367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F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or mor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inf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ion plea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c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all 80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0 3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6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2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2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7 (U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E) / +9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7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1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4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3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6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6 1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6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8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8 (I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n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n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ion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al) or 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alk 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 our P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op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 Ad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v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or dir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c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l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 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07627" y="5727790"/>
            <a:ext cx="1517637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+9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7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1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4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8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8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8 8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8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4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4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f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om 9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 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 7 P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 (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G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), M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ond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 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 F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93760" y="6794666"/>
            <a:ext cx="1639023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V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si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 our online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ale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 c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en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 em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.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c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om or an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 o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f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our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ale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 C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en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 acr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 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he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U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51157" y="7861542"/>
            <a:ext cx="1253284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DUBA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0982" y="8217244"/>
            <a:ext cx="1530301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ar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ale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 C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en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| N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x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 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ou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qa Al Bah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, 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w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n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w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n 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ubai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9902" y="8572945"/>
            <a:ext cx="1388409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9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: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3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0 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 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 1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0 P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M,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und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 - F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5550" y="8928647"/>
            <a:ext cx="1349844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9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: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3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0 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 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 7 P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M,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ur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97847" y="9995523"/>
            <a:ext cx="1478615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ubai H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ill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 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ale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 P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v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ilion| U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mm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u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q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im 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74097" y="10351225"/>
            <a:ext cx="1460990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ubai C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k H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b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our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ale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 P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v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ilion | Ra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s Al K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29342" y="10706926"/>
            <a:ext cx="1425465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 i="0">
                <a:solidFill>
                  <a:srgbClr val="000000"/>
                </a:solidFill>
                <a:latin typeface="Acumin Variable Concept"/>
              </a:rPr>
              <a:t>F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om 9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: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3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0 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 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o 7 P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M,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und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 - S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t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ur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d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a</a:t>
            </a:r>
            <a:r>
              <a:rPr sz="1800" b="0" i="0">
                <a:solidFill>
                  <a:srgbClr val="000000"/>
                </a:solidFill>
                <a:latin typeface="Acumin Variable Concept"/>
              </a:rPr>
              <a:t>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